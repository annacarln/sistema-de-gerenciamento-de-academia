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Fraunces" charset="1" panose="00000000000000000000"/>
      <p:regular r:id="rId19"/>
    </p:embeddedFont>
    <p:embeddedFont>
      <p:font typeface="Arimo Bold" charset="1" panose="020B0704020202020204"/>
      <p:regular r:id="rId20"/>
    </p:embeddedFont>
    <p:embeddedFont>
      <p:font typeface="Arimo" charset="1" panose="020B0604020202020204"/>
      <p:regular r:id="rId21"/>
    </p:embeddedFont>
    <p:embeddedFont>
      <p:font typeface="Consolas" charset="1" panose="020B0609020204030204"/>
      <p:regular r:id="rId27"/>
    </p:embeddedFont>
    <p:embeddedFont>
      <p:font typeface="Arimo Italics" charset="1" panose="020B060402020209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jpeg" Type="http://schemas.openxmlformats.org/officeDocument/2006/relationships/image"/><Relationship Id="rId6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2719740"/>
            <a:ext cx="9452677" cy="157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Sistema de Gerenciamento de Academia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4567304"/>
            <a:ext cx="9452677" cy="84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3"/>
              </a:lnSpc>
            </a:pPr>
            <a:r>
              <a:rPr lang="en-US" sz="2151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Modelagem e Implementação de Banco de Dados com SQL</a:t>
            </a:r>
          </a:p>
          <a:p>
            <a:pPr algn="l">
              <a:lnSpc>
                <a:spcPts val="3433"/>
              </a:lnSpc>
            </a:pPr>
            <a:r>
              <a:rPr lang="en-US" sz="21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Universidade Veiga de Almeida — Ciências da Computação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991" y="6015571"/>
            <a:ext cx="8643776" cy="466792"/>
            <a:chOff x="0" y="0"/>
            <a:chExt cx="11525034" cy="6223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25072" cy="622427"/>
            </a:xfrm>
            <a:custGeom>
              <a:avLst/>
              <a:gdLst/>
              <a:ahLst/>
              <a:cxnLst/>
              <a:rect r="r" b="b" t="t" l="l"/>
              <a:pathLst>
                <a:path h="622427" w="11525072">
                  <a:moveTo>
                    <a:pt x="0" y="238379"/>
                  </a:moveTo>
                  <a:cubicBezTo>
                    <a:pt x="0" y="106680"/>
                    <a:pt x="117055" y="0"/>
                    <a:pt x="261563" y="0"/>
                  </a:cubicBezTo>
                  <a:lnTo>
                    <a:pt x="11263513" y="0"/>
                  </a:lnTo>
                  <a:cubicBezTo>
                    <a:pt x="11408021" y="0"/>
                    <a:pt x="11525072" y="106680"/>
                    <a:pt x="11525072" y="238379"/>
                  </a:cubicBezTo>
                  <a:lnTo>
                    <a:pt x="11525072" y="384048"/>
                  </a:lnTo>
                  <a:cubicBezTo>
                    <a:pt x="11525072" y="515747"/>
                    <a:pt x="11408021" y="622427"/>
                    <a:pt x="11263513" y="622427"/>
                  </a:cubicBezTo>
                  <a:lnTo>
                    <a:pt x="261563" y="622427"/>
                  </a:lnTo>
                  <a:cubicBezTo>
                    <a:pt x="117055" y="622427"/>
                    <a:pt x="0" y="515620"/>
                    <a:pt x="0" y="384048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41933" y="6004312"/>
            <a:ext cx="8494833" cy="34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17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DISCIPLINA: MODELAGEM E IMPLEMENTAÇÃO DE BANCO DE DADOS COM SQL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991" y="6675911"/>
            <a:ext cx="9452677" cy="8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Anna Carolina Militão dos Santos · Jonas Barros Barreto · Matheus Melo Moraes de Alencar · João Miguel Calsavara Santos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816826"/>
            <a:ext cx="7738367" cy="79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Introdução e Objetivo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6182" y="1898218"/>
            <a:ext cx="9452677" cy="121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Este trabalho tem como objetivo desenvolver e implementar um banco de dados relacional para o gerenciamento completo de uma academia, visando </a:t>
            </a:r>
            <a:r>
              <a:rPr lang="en-US" sz="2051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automatizar e otimizar o controle operacional</a:t>
            </a: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do estabelecimento.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41875" y="3440621"/>
            <a:ext cx="4630864" cy="3899668"/>
            <a:chOff x="0" y="0"/>
            <a:chExt cx="6174486" cy="51995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74486" cy="5199507"/>
            </a:xfrm>
            <a:custGeom>
              <a:avLst/>
              <a:gdLst/>
              <a:ahLst/>
              <a:cxnLst/>
              <a:rect r="r" b="b" t="t" l="l"/>
              <a:pathLst>
                <a:path h="5199507" w="6174486">
                  <a:moveTo>
                    <a:pt x="0" y="300101"/>
                  </a:moveTo>
                  <a:cubicBezTo>
                    <a:pt x="0" y="134366"/>
                    <a:pt x="134366" y="0"/>
                    <a:pt x="300101" y="0"/>
                  </a:cubicBezTo>
                  <a:lnTo>
                    <a:pt x="5874385" y="0"/>
                  </a:lnTo>
                  <a:cubicBezTo>
                    <a:pt x="6040120" y="0"/>
                    <a:pt x="6174486" y="134366"/>
                    <a:pt x="6174486" y="300101"/>
                  </a:cubicBezTo>
                  <a:lnTo>
                    <a:pt x="6174486" y="4899406"/>
                  </a:lnTo>
                  <a:cubicBezTo>
                    <a:pt x="6174486" y="5065141"/>
                    <a:pt x="6040120" y="5199507"/>
                    <a:pt x="5874385" y="5199507"/>
                  </a:cubicBezTo>
                  <a:lnTo>
                    <a:pt x="300101" y="5199507"/>
                  </a:lnTo>
                  <a:cubicBezTo>
                    <a:pt x="134366" y="5199507"/>
                    <a:pt x="0" y="5065141"/>
                    <a:pt x="0" y="4899406"/>
                  </a:cubicBezTo>
                  <a:close/>
                </a:path>
              </a:pathLst>
            </a:custGeom>
            <a:solidFill>
              <a:srgbClr val="DDEEE0"/>
            </a:solidFill>
            <a:ln w="28597" cap="sq">
              <a:solidFill>
                <a:srgbClr val="C3D4C6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8132912" y="3722132"/>
            <a:ext cx="2649379" cy="38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50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Escopo Funcional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32912" y="4182875"/>
            <a:ext cx="4048801" cy="203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Cadastro de alunos, controle de matrículas e planos, registros de pagamentos, escala de instrutores e montagem de fichas de treino com exercícios personalizados.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692282" y="3440621"/>
            <a:ext cx="4630864" cy="3899668"/>
            <a:chOff x="0" y="0"/>
            <a:chExt cx="6174486" cy="51995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74486" cy="5199507"/>
            </a:xfrm>
            <a:custGeom>
              <a:avLst/>
              <a:gdLst/>
              <a:ahLst/>
              <a:cxnLst/>
              <a:rect r="r" b="b" t="t" l="l"/>
              <a:pathLst>
                <a:path h="5199507" w="6174486">
                  <a:moveTo>
                    <a:pt x="0" y="300101"/>
                  </a:moveTo>
                  <a:cubicBezTo>
                    <a:pt x="0" y="134366"/>
                    <a:pt x="134366" y="0"/>
                    <a:pt x="300101" y="0"/>
                  </a:cubicBezTo>
                  <a:lnTo>
                    <a:pt x="5874385" y="0"/>
                  </a:lnTo>
                  <a:cubicBezTo>
                    <a:pt x="6040120" y="0"/>
                    <a:pt x="6174486" y="134366"/>
                    <a:pt x="6174486" y="300101"/>
                  </a:cubicBezTo>
                  <a:lnTo>
                    <a:pt x="6174486" y="4899406"/>
                  </a:lnTo>
                  <a:cubicBezTo>
                    <a:pt x="6174486" y="5065141"/>
                    <a:pt x="6040120" y="5199507"/>
                    <a:pt x="5874385" y="5199507"/>
                  </a:cubicBezTo>
                  <a:lnTo>
                    <a:pt x="300101" y="5199507"/>
                  </a:lnTo>
                  <a:cubicBezTo>
                    <a:pt x="134366" y="5199507"/>
                    <a:pt x="0" y="5065141"/>
                    <a:pt x="0" y="4899406"/>
                  </a:cubicBezTo>
                  <a:close/>
                </a:path>
              </a:pathLst>
            </a:custGeom>
            <a:solidFill>
              <a:srgbClr val="DDEEE0"/>
            </a:solidFill>
            <a:ln w="28597" cap="sq">
              <a:solidFill>
                <a:srgbClr val="C3D4C6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983318" y="3722132"/>
            <a:ext cx="2819400" cy="38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50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Escopo Acadêmico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83318" y="4182875"/>
            <a:ext cx="4048801" cy="244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Aplicar conceitos de modelagem de dados, garantir integridade referencial com chaves primárias e estrangeiras, e validar a estrutura via comandos SQL (INSERT, SELECT, UPDATE, DELETE).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841875" y="7559831"/>
            <a:ext cx="9481271" cy="1913487"/>
            <a:chOff x="0" y="0"/>
            <a:chExt cx="12641694" cy="25513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41707" cy="2551430"/>
            </a:xfrm>
            <a:custGeom>
              <a:avLst/>
              <a:gdLst/>
              <a:ahLst/>
              <a:cxnLst/>
              <a:rect r="r" b="b" t="t" l="l"/>
              <a:pathLst>
                <a:path h="2551430" w="12641707">
                  <a:moveTo>
                    <a:pt x="0" y="302514"/>
                  </a:moveTo>
                  <a:cubicBezTo>
                    <a:pt x="0" y="135382"/>
                    <a:pt x="135382" y="0"/>
                    <a:pt x="302514" y="0"/>
                  </a:cubicBezTo>
                  <a:lnTo>
                    <a:pt x="12339193" y="0"/>
                  </a:lnTo>
                  <a:cubicBezTo>
                    <a:pt x="12506199" y="0"/>
                    <a:pt x="12641707" y="135382"/>
                    <a:pt x="12641707" y="302514"/>
                  </a:cubicBezTo>
                  <a:lnTo>
                    <a:pt x="12641707" y="2248916"/>
                  </a:lnTo>
                  <a:cubicBezTo>
                    <a:pt x="12641707" y="2415921"/>
                    <a:pt x="12506325" y="2551430"/>
                    <a:pt x="12339193" y="2551430"/>
                  </a:cubicBezTo>
                  <a:lnTo>
                    <a:pt x="302514" y="2551430"/>
                  </a:lnTo>
                  <a:cubicBezTo>
                    <a:pt x="135382" y="2551303"/>
                    <a:pt x="0" y="2415921"/>
                    <a:pt x="0" y="2248916"/>
                  </a:cubicBezTo>
                  <a:close/>
                </a:path>
              </a:pathLst>
            </a:custGeom>
            <a:solidFill>
              <a:srgbClr val="DDEEE0"/>
            </a:solidFill>
            <a:ln w="28597" cap="sq">
              <a:solidFill>
                <a:srgbClr val="C3D4C6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8132912" y="7841342"/>
            <a:ext cx="1658541" cy="38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50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Tecnologia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32912" y="8302085"/>
            <a:ext cx="8899207" cy="8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Implementado em </a:t>
            </a:r>
            <a:r>
              <a:rPr lang="en-US" sz="2051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MariaDB 10.4</a:t>
            </a: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com interface </a:t>
            </a:r>
            <a:r>
              <a:rPr lang="en-US" sz="2051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phpMyAdmin</a:t>
            </a: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para administração e validação dos dados.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3134" y="1435389"/>
            <a:ext cx="11980497" cy="79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Descrição do Sistema Desenvolvido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3134" y="2640854"/>
            <a:ext cx="16315563" cy="8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O sistema digitaliza e organiza as informações operacionais de uma academia, substituindo o controle manual por uma base de dados estruturada e relacional. O banco de dados gerenciamento_academia é composto por </a:t>
            </a:r>
            <a:r>
              <a:rPr lang="en-US" sz="2051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oito entidades principais</a:t>
            </a: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inter-relacionadas.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3134" y="3819382"/>
            <a:ext cx="620639" cy="620649"/>
          </a:xfrm>
          <a:custGeom>
            <a:avLst/>
            <a:gdLst/>
            <a:ahLst/>
            <a:cxnLst/>
            <a:rect r="r" b="b" t="t" l="l"/>
            <a:pathLst>
              <a:path h="620649" w="620639">
                <a:moveTo>
                  <a:pt x="0" y="0"/>
                </a:moveTo>
                <a:lnTo>
                  <a:pt x="620639" y="0"/>
                </a:lnTo>
                <a:lnTo>
                  <a:pt x="620639" y="620649"/>
                </a:lnTo>
                <a:lnTo>
                  <a:pt x="0" y="6206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573" r="-2490" b="-1044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3134" y="4740764"/>
            <a:ext cx="2724507" cy="38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50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Aluno &amp; Matrícula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3134" y="5201507"/>
            <a:ext cx="8002591" cy="8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Registro completo de dados pessoais, histórico de matrículas e planos contratados ao longo do tempo.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305973" y="3819382"/>
            <a:ext cx="620639" cy="620649"/>
          </a:xfrm>
          <a:custGeom>
            <a:avLst/>
            <a:gdLst/>
            <a:ahLst/>
            <a:cxnLst/>
            <a:rect r="r" b="b" t="t" l="l"/>
            <a:pathLst>
              <a:path h="620649" w="620639">
                <a:moveTo>
                  <a:pt x="0" y="0"/>
                </a:moveTo>
                <a:lnTo>
                  <a:pt x="620639" y="0"/>
                </a:lnTo>
                <a:lnTo>
                  <a:pt x="620639" y="620649"/>
                </a:lnTo>
                <a:lnTo>
                  <a:pt x="0" y="6206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335" t="0" r="-33335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05973" y="4740764"/>
            <a:ext cx="2774394" cy="38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50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Treino &amp; Exercício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05973" y="5201507"/>
            <a:ext cx="8002734" cy="8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Fichas de treino personalizadas com séries, repetições, carga e observações por grupo muscular.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3134" y="6578136"/>
            <a:ext cx="620639" cy="620649"/>
          </a:xfrm>
          <a:custGeom>
            <a:avLst/>
            <a:gdLst/>
            <a:ahLst/>
            <a:cxnLst/>
            <a:rect r="r" b="b" t="t" l="l"/>
            <a:pathLst>
              <a:path h="620649" w="620639">
                <a:moveTo>
                  <a:pt x="0" y="0"/>
                </a:moveTo>
                <a:lnTo>
                  <a:pt x="620639" y="0"/>
                </a:lnTo>
                <a:lnTo>
                  <a:pt x="620639" y="620649"/>
                </a:lnTo>
                <a:lnTo>
                  <a:pt x="0" y="6206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7426" t="0" r="-17425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93134" y="7499509"/>
            <a:ext cx="1701403" cy="38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50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Pagamento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3134" y="7960252"/>
            <a:ext cx="8002591" cy="8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Controle financeiro com data, valor, forma de pagamento e status (pago, pendente ou atrasado).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305973" y="6578136"/>
            <a:ext cx="620639" cy="620649"/>
          </a:xfrm>
          <a:custGeom>
            <a:avLst/>
            <a:gdLst/>
            <a:ahLst/>
            <a:cxnLst/>
            <a:rect r="r" b="b" t="t" l="l"/>
            <a:pathLst>
              <a:path h="620649" w="620639">
                <a:moveTo>
                  <a:pt x="0" y="0"/>
                </a:moveTo>
                <a:lnTo>
                  <a:pt x="620639" y="0"/>
                </a:lnTo>
                <a:lnTo>
                  <a:pt x="620639" y="620649"/>
                </a:lnTo>
                <a:lnTo>
                  <a:pt x="0" y="6206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305973" y="7499509"/>
            <a:ext cx="1370052" cy="38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50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Instrutor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05973" y="7960252"/>
            <a:ext cx="8002734" cy="8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Cadastro de profissionais responsáveis pela elaboração dos treinos, com especialidade e contato.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3134" y="1549336"/>
            <a:ext cx="11243091" cy="79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Mini Mundo — Regras de Negócio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3134" y="2754792"/>
            <a:ext cx="17230658" cy="39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As regras de negócio definem o comportamento esperado do sistema e orientam a modelagem das entidades e seus relacionamentos.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64540" y="3517030"/>
            <a:ext cx="8062312" cy="2679363"/>
          </a:xfrm>
          <a:custGeom>
            <a:avLst/>
            <a:gdLst/>
            <a:ahLst/>
            <a:cxnLst/>
            <a:rect r="r" b="b" t="t" l="l"/>
            <a:pathLst>
              <a:path h="2679363" w="8062312">
                <a:moveTo>
                  <a:pt x="0" y="0"/>
                </a:moveTo>
                <a:lnTo>
                  <a:pt x="8062312" y="0"/>
                </a:lnTo>
                <a:lnTo>
                  <a:pt x="8062312" y="2679364"/>
                </a:lnTo>
                <a:lnTo>
                  <a:pt x="0" y="26793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69" r="0" b="-26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55655" y="3784244"/>
            <a:ext cx="2654380" cy="38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50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Aluno e Matrícula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5655" y="4244988"/>
            <a:ext cx="7394458" cy="162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Cada aluno é cadastrado com nome, CPF, telefone, data de nascimento e e-mail. Um aluno pode realizar </a:t>
            </a:r>
            <a:r>
              <a:rPr lang="en-US" sz="2051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uma ou mais matrículas</a:t>
            </a: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ao longo do tempo, permitindo troca de plano, cancelamento e retorno futuro.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246394" y="3517030"/>
            <a:ext cx="8062312" cy="2679363"/>
          </a:xfrm>
          <a:custGeom>
            <a:avLst/>
            <a:gdLst/>
            <a:ahLst/>
            <a:cxnLst/>
            <a:rect r="r" b="b" t="t" l="l"/>
            <a:pathLst>
              <a:path h="2679363" w="8062312">
                <a:moveTo>
                  <a:pt x="0" y="0"/>
                </a:moveTo>
                <a:lnTo>
                  <a:pt x="8062312" y="0"/>
                </a:lnTo>
                <a:lnTo>
                  <a:pt x="8062312" y="2679364"/>
                </a:lnTo>
                <a:lnTo>
                  <a:pt x="0" y="26793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69" r="0" b="-26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37509" y="3784244"/>
            <a:ext cx="866180" cy="38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50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Plano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37509" y="4244988"/>
            <a:ext cx="7394458" cy="121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Cada matrícula está vinculada a um único plano, que define tipo, valor, duração e benefícios. Um plano pode estar associado a </a:t>
            </a:r>
            <a:r>
              <a:rPr lang="en-US" sz="2051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várias matrículas</a:t>
            </a: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simultaneamente.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64540" y="6444529"/>
            <a:ext cx="8062312" cy="2282123"/>
          </a:xfrm>
          <a:custGeom>
            <a:avLst/>
            <a:gdLst/>
            <a:ahLst/>
            <a:cxnLst/>
            <a:rect r="r" b="b" t="t" l="l"/>
            <a:pathLst>
              <a:path h="2282123" w="8062312">
                <a:moveTo>
                  <a:pt x="0" y="0"/>
                </a:moveTo>
                <a:lnTo>
                  <a:pt x="8062312" y="0"/>
                </a:lnTo>
                <a:lnTo>
                  <a:pt x="8062312" y="2282124"/>
                </a:lnTo>
                <a:lnTo>
                  <a:pt x="0" y="22821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60" r="0" b="-26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55655" y="6711744"/>
            <a:ext cx="2686169" cy="38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50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Instrutor e Treino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5655" y="7172487"/>
            <a:ext cx="7394458" cy="121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Instrutores montam os planos de treino. Um instrutor pode elaborar </a:t>
            </a:r>
            <a:r>
              <a:rPr lang="en-US" sz="2051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vários treinos</a:t>
            </a: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, mas cada treino é criado por apenas um instrutor e pertence a um único aluno.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246394" y="6444529"/>
            <a:ext cx="8062312" cy="2282123"/>
          </a:xfrm>
          <a:custGeom>
            <a:avLst/>
            <a:gdLst/>
            <a:ahLst/>
            <a:cxnLst/>
            <a:rect r="r" b="b" t="t" l="l"/>
            <a:pathLst>
              <a:path h="2282123" w="8062312">
                <a:moveTo>
                  <a:pt x="0" y="0"/>
                </a:moveTo>
                <a:lnTo>
                  <a:pt x="8062312" y="0"/>
                </a:lnTo>
                <a:lnTo>
                  <a:pt x="8062312" y="2282124"/>
                </a:lnTo>
                <a:lnTo>
                  <a:pt x="0" y="22821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60" r="0" b="-26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637509" y="6711744"/>
            <a:ext cx="2704267" cy="38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50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Treino e Exercício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37509" y="7172487"/>
            <a:ext cx="7394458" cy="121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Cada treino possui vários exercícios com séries, repetições, carga e observações. Um mesmo exercício pode aparecer em </a:t>
            </a:r>
            <a:r>
              <a:rPr lang="en-US" sz="2051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diferentes treinos</a:t>
            </a: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, caracterizando relacionamento N:N.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3134" y="1548889"/>
            <a:ext cx="12145528" cy="79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Modelo Conceitual e Cardinalidades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3134" y="2754344"/>
            <a:ext cx="16315563" cy="8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O modelo conceitual representa graficamente as entidades do sistema e seus relacionamentos antes da implementação física, definindo atributos e chaves primárias de cada entidade.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14407" y="3913813"/>
            <a:ext cx="8212445" cy="4813287"/>
            <a:chOff x="0" y="0"/>
            <a:chExt cx="10949927" cy="64177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49939" cy="6417818"/>
            </a:xfrm>
            <a:custGeom>
              <a:avLst/>
              <a:gdLst/>
              <a:ahLst/>
              <a:cxnLst/>
              <a:rect r="r" b="b" t="t" l="l"/>
              <a:pathLst>
                <a:path h="6417818" w="10949939">
                  <a:moveTo>
                    <a:pt x="0" y="476758"/>
                  </a:moveTo>
                  <a:cubicBezTo>
                    <a:pt x="0" y="213487"/>
                    <a:pt x="213487" y="0"/>
                    <a:pt x="476758" y="0"/>
                  </a:cubicBezTo>
                  <a:lnTo>
                    <a:pt x="10473182" y="0"/>
                  </a:lnTo>
                  <a:cubicBezTo>
                    <a:pt x="10736452" y="0"/>
                    <a:pt x="10949939" y="213487"/>
                    <a:pt x="10949939" y="476758"/>
                  </a:cubicBezTo>
                  <a:lnTo>
                    <a:pt x="10949939" y="5941060"/>
                  </a:lnTo>
                  <a:cubicBezTo>
                    <a:pt x="10949939" y="6204331"/>
                    <a:pt x="10736452" y="6417818"/>
                    <a:pt x="10473182" y="6417818"/>
                  </a:cubicBezTo>
                  <a:lnTo>
                    <a:pt x="476758" y="6417818"/>
                  </a:lnTo>
                  <a:cubicBezTo>
                    <a:pt x="213487" y="6417691"/>
                    <a:pt x="0" y="6204331"/>
                    <a:pt x="0" y="5941060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62542" y="4161958"/>
            <a:ext cx="5010217" cy="38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FAFFFA"/>
                </a:solidFill>
                <a:latin typeface="Fraunces"/>
                <a:ea typeface="Fraunces"/>
                <a:cs typeface="Fraunces"/>
                <a:sym typeface="Fraunces"/>
              </a:rPr>
              <a:t>Cardinalidades Principais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2542" y="4712370"/>
            <a:ext cx="7716174" cy="325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1565" indent="-185783" lvl="1">
              <a:lnSpc>
                <a:spcPts val="3274"/>
              </a:lnSpc>
              <a:buFont typeface="Arial"/>
              <a:buChar char="•"/>
            </a:pPr>
            <a:r>
              <a:rPr lang="en-US" sz="2051">
                <a:solidFill>
                  <a:srgbClr val="FAFFFA"/>
                </a:solidFill>
                <a:latin typeface="Arimo"/>
                <a:ea typeface="Arimo"/>
                <a:cs typeface="Arimo"/>
                <a:sym typeface="Arimo"/>
              </a:rPr>
              <a:t>Aluno (1:N) Matrícula — um aluno pode ter várias matrículas</a:t>
            </a:r>
          </a:p>
          <a:p>
            <a:pPr algn="l" marL="371565" indent="-185783" lvl="1">
              <a:lnSpc>
                <a:spcPts val="3274"/>
              </a:lnSpc>
              <a:buFont typeface="Arial"/>
              <a:buChar char="•"/>
            </a:pPr>
            <a:r>
              <a:rPr lang="en-US" sz="2051">
                <a:solidFill>
                  <a:srgbClr val="FAFFFA"/>
                </a:solidFill>
                <a:latin typeface="Arimo"/>
                <a:ea typeface="Arimo"/>
                <a:cs typeface="Arimo"/>
                <a:sym typeface="Arimo"/>
              </a:rPr>
              <a:t>Plano (1:N) Matrícula — um plano pode estar em várias matrículas</a:t>
            </a:r>
          </a:p>
          <a:p>
            <a:pPr algn="l" marL="371565" indent="-185783" lvl="1">
              <a:lnSpc>
                <a:spcPts val="3274"/>
              </a:lnSpc>
              <a:buFont typeface="Arial"/>
              <a:buChar char="•"/>
            </a:pPr>
            <a:r>
              <a:rPr lang="en-US" sz="2051">
                <a:solidFill>
                  <a:srgbClr val="FAFFFA"/>
                </a:solidFill>
                <a:latin typeface="Arimo"/>
                <a:ea typeface="Arimo"/>
                <a:cs typeface="Arimo"/>
                <a:sym typeface="Arimo"/>
              </a:rPr>
              <a:t>Aluno (1:N) Pagamento — um aluno pode realizar vários pagamentos</a:t>
            </a:r>
          </a:p>
          <a:p>
            <a:pPr algn="l" marL="371565" indent="-185783" lvl="1">
              <a:lnSpc>
                <a:spcPts val="3274"/>
              </a:lnSpc>
              <a:buFont typeface="Arial"/>
              <a:buChar char="•"/>
            </a:pPr>
            <a:r>
              <a:rPr lang="en-US" sz="2051">
                <a:solidFill>
                  <a:srgbClr val="FAFFFA"/>
                </a:solidFill>
                <a:latin typeface="Arimo"/>
                <a:ea typeface="Arimo"/>
                <a:cs typeface="Arimo"/>
                <a:sym typeface="Arimo"/>
              </a:rPr>
              <a:t>Instrutor (1:N) Treino — um instrutor elabora vários treinos</a:t>
            </a:r>
          </a:p>
          <a:p>
            <a:pPr algn="l" marL="371565" indent="-185783" lvl="1">
              <a:lnSpc>
                <a:spcPts val="3274"/>
              </a:lnSpc>
              <a:buFont typeface="Arial"/>
              <a:buChar char="•"/>
            </a:pPr>
            <a:r>
              <a:rPr lang="en-US" sz="2051">
                <a:solidFill>
                  <a:srgbClr val="FAFFFA"/>
                </a:solidFill>
                <a:latin typeface="Arimo"/>
                <a:ea typeface="Arimo"/>
                <a:cs typeface="Arimo"/>
                <a:sym typeface="Arimo"/>
              </a:rPr>
              <a:t>Treino (N:N) Exercício — resolvido pela entidade associativa Treino_Exercício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63249" y="4152433"/>
            <a:ext cx="3118009" cy="38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501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Entidade Associativa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63249" y="4712370"/>
            <a:ext cx="7854991" cy="162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O relacionamento muitos-para-muitos entre </a:t>
            </a:r>
            <a:r>
              <a:rPr lang="en-US" sz="2051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Treino</a:t>
            </a: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2051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Exercício</a:t>
            </a: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foi resolvido pela criação da entidade associativa Treino_Exercício, que armazena atributos próprios do relacionamento: séries, repetições, carga e descanso.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63249" y="6685378"/>
            <a:ext cx="7854991" cy="1762458"/>
            <a:chOff x="0" y="0"/>
            <a:chExt cx="10473322" cy="23499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73310" cy="2350008"/>
            </a:xfrm>
            <a:custGeom>
              <a:avLst/>
              <a:gdLst/>
              <a:ahLst/>
              <a:cxnLst/>
              <a:rect r="r" b="b" t="t" l="l"/>
              <a:pathLst>
                <a:path h="2350008" w="10473310">
                  <a:moveTo>
                    <a:pt x="0" y="297942"/>
                  </a:moveTo>
                  <a:cubicBezTo>
                    <a:pt x="0" y="133350"/>
                    <a:pt x="133350" y="0"/>
                    <a:pt x="297942" y="0"/>
                  </a:cubicBezTo>
                  <a:lnTo>
                    <a:pt x="10175367" y="0"/>
                  </a:lnTo>
                  <a:cubicBezTo>
                    <a:pt x="10339960" y="0"/>
                    <a:pt x="10473310" y="133350"/>
                    <a:pt x="10473310" y="297942"/>
                  </a:cubicBezTo>
                  <a:lnTo>
                    <a:pt x="10473310" y="2052066"/>
                  </a:lnTo>
                  <a:cubicBezTo>
                    <a:pt x="10473310" y="2216658"/>
                    <a:pt x="10339960" y="2350008"/>
                    <a:pt x="10175367" y="2350008"/>
                  </a:cubicBezTo>
                  <a:lnTo>
                    <a:pt x="297942" y="2350008"/>
                  </a:lnTo>
                  <a:cubicBezTo>
                    <a:pt x="133350" y="2350008"/>
                    <a:pt x="0" y="2216531"/>
                    <a:pt x="0" y="2052066"/>
                  </a:cubicBezTo>
                  <a:close/>
                </a:path>
              </a:pathLst>
            </a:custGeom>
            <a:solidFill>
              <a:srgbClr val="AFCBF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711385" y="7045223"/>
            <a:ext cx="310239" cy="248145"/>
            <a:chOff x="0" y="0"/>
            <a:chExt cx="413652" cy="33086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13639" cy="330835"/>
            </a:xfrm>
            <a:custGeom>
              <a:avLst/>
              <a:gdLst/>
              <a:ahLst/>
              <a:cxnLst/>
              <a:rect r="r" b="b" t="t" l="l"/>
              <a:pathLst>
                <a:path h="330835" w="413639">
                  <a:moveTo>
                    <a:pt x="0" y="0"/>
                  </a:moveTo>
                  <a:lnTo>
                    <a:pt x="413639" y="0"/>
                  </a:lnTo>
                  <a:lnTo>
                    <a:pt x="413639" y="330835"/>
                  </a:lnTo>
                  <a:lnTo>
                    <a:pt x="0" y="330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47" r="-3" b="-115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269760" y="6885022"/>
            <a:ext cx="6800336" cy="121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entidade associativa transforma um relacionamento N:N em dois relacionamentos 1:N, permitindo armazenar dados específicos da associação.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3134" y="981266"/>
            <a:ext cx="13097256" cy="71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4353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Modelagem Lógica — Estrutura das Tabelas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3134" y="2024510"/>
            <a:ext cx="16315563" cy="739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O modelo lógico traduziu o modelo conceitual em estrutura de tabelas relacionais, definindo tipos de dados, chaves primárias (PK) e chaves estrangeiras (FK) para cada entidade.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8371" y="3001385"/>
            <a:ext cx="3273723" cy="619011"/>
            <a:chOff x="0" y="0"/>
            <a:chExt cx="4364965" cy="8253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64952" cy="825386"/>
            </a:xfrm>
            <a:custGeom>
              <a:avLst/>
              <a:gdLst/>
              <a:ahLst/>
              <a:cxnLst/>
              <a:rect r="r" b="b" t="t" l="l"/>
              <a:pathLst>
                <a:path h="825386" w="4364952">
                  <a:moveTo>
                    <a:pt x="0" y="0"/>
                  </a:moveTo>
                  <a:lnTo>
                    <a:pt x="4364952" y="0"/>
                  </a:lnTo>
                  <a:lnTo>
                    <a:pt x="4364952" y="825386"/>
                  </a:lnTo>
                  <a:lnTo>
                    <a:pt x="0" y="825386"/>
                  </a:lnTo>
                  <a:close/>
                </a:path>
              </a:pathLst>
            </a:custGeom>
            <a:solidFill>
              <a:srgbClr val="4A644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262085" y="3001385"/>
            <a:ext cx="5703684" cy="619011"/>
            <a:chOff x="0" y="0"/>
            <a:chExt cx="7604912" cy="8253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04887" cy="825386"/>
            </a:xfrm>
            <a:custGeom>
              <a:avLst/>
              <a:gdLst/>
              <a:ahLst/>
              <a:cxnLst/>
              <a:rect r="r" b="b" t="t" l="l"/>
              <a:pathLst>
                <a:path h="825386" w="7604887">
                  <a:moveTo>
                    <a:pt x="0" y="0"/>
                  </a:moveTo>
                  <a:lnTo>
                    <a:pt x="7604887" y="0"/>
                  </a:lnTo>
                  <a:lnTo>
                    <a:pt x="7604887" y="825386"/>
                  </a:lnTo>
                  <a:lnTo>
                    <a:pt x="0" y="825386"/>
                  </a:lnTo>
                  <a:close/>
                </a:path>
              </a:pathLst>
            </a:custGeom>
            <a:solidFill>
              <a:srgbClr val="4A644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26229" y="3069660"/>
            <a:ext cx="3727542" cy="36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 b="true">
                <a:solidFill>
                  <a:srgbClr val="FAFFFA"/>
                </a:solidFill>
                <a:latin typeface="Arimo Bold"/>
                <a:ea typeface="Arimo Bold"/>
                <a:cs typeface="Arimo Bold"/>
                <a:sym typeface="Arimo Bold"/>
              </a:rPr>
              <a:t>Tabela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85503" y="3069660"/>
            <a:ext cx="6171952" cy="36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 b="true">
                <a:solidFill>
                  <a:srgbClr val="FAFFFA"/>
                </a:solidFill>
                <a:latin typeface="Arimo Bold"/>
                <a:ea typeface="Arimo Bold"/>
                <a:cs typeface="Arimo Bold"/>
                <a:sym typeface="Arimo Bold"/>
              </a:rPr>
              <a:t>Chave Primária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65779" y="3001385"/>
            <a:ext cx="7333393" cy="753951"/>
            <a:chOff x="0" y="0"/>
            <a:chExt cx="9777857" cy="10052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77857" cy="1005307"/>
            </a:xfrm>
            <a:custGeom>
              <a:avLst/>
              <a:gdLst/>
              <a:ahLst/>
              <a:cxnLst/>
              <a:rect r="r" b="b" t="t" l="l"/>
              <a:pathLst>
                <a:path h="1005307" w="9777857">
                  <a:moveTo>
                    <a:pt x="0" y="0"/>
                  </a:moveTo>
                  <a:lnTo>
                    <a:pt x="9777857" y="0"/>
                  </a:lnTo>
                  <a:lnTo>
                    <a:pt x="9777857" y="1005307"/>
                  </a:lnTo>
                  <a:lnTo>
                    <a:pt x="0" y="1005307"/>
                  </a:lnTo>
                  <a:close/>
                </a:path>
              </a:pathLst>
            </a:custGeom>
            <a:solidFill>
              <a:srgbClr val="4A644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89188" y="3069660"/>
            <a:ext cx="7801661" cy="36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 b="true">
                <a:solidFill>
                  <a:srgbClr val="FAFFFA"/>
                </a:solidFill>
                <a:latin typeface="Arimo Bold"/>
                <a:ea typeface="Arimo Bold"/>
                <a:cs typeface="Arimo Bold"/>
                <a:sym typeface="Arimo Bold"/>
              </a:rPr>
              <a:t>Principais Atributos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02821" y="3620395"/>
            <a:ext cx="3259274" cy="949071"/>
            <a:chOff x="0" y="0"/>
            <a:chExt cx="4345699" cy="12654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45686" cy="1265428"/>
            </a:xfrm>
            <a:custGeom>
              <a:avLst/>
              <a:gdLst/>
              <a:ahLst/>
              <a:cxnLst/>
              <a:rect r="r" b="b" t="t" l="l"/>
              <a:pathLst>
                <a:path h="1265428" w="4345686">
                  <a:moveTo>
                    <a:pt x="0" y="0"/>
                  </a:moveTo>
                  <a:lnTo>
                    <a:pt x="4345686" y="0"/>
                  </a:lnTo>
                  <a:lnTo>
                    <a:pt x="4345686" y="1265428"/>
                  </a:lnTo>
                  <a:lnTo>
                    <a:pt x="0" y="1265428"/>
                  </a:lnTo>
                  <a:close/>
                </a:path>
              </a:pathLst>
            </a:custGeom>
            <a:solidFill>
              <a:srgbClr val="DFEEE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26229" y="3650561"/>
            <a:ext cx="3727542" cy="39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Aluno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262085" y="3620395"/>
            <a:ext cx="5703684" cy="949071"/>
            <a:chOff x="0" y="0"/>
            <a:chExt cx="7604912" cy="12654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04887" cy="1265428"/>
            </a:xfrm>
            <a:custGeom>
              <a:avLst/>
              <a:gdLst/>
              <a:ahLst/>
              <a:cxnLst/>
              <a:rect r="r" b="b" t="t" l="l"/>
              <a:pathLst>
                <a:path h="1265428" w="7604887">
                  <a:moveTo>
                    <a:pt x="0" y="0"/>
                  </a:moveTo>
                  <a:lnTo>
                    <a:pt x="7604887" y="0"/>
                  </a:lnTo>
                  <a:lnTo>
                    <a:pt x="7604887" y="1265428"/>
                  </a:lnTo>
                  <a:lnTo>
                    <a:pt x="0" y="1265428"/>
                  </a:lnTo>
                  <a:close/>
                </a:path>
              </a:pathLst>
            </a:custGeom>
            <a:solidFill>
              <a:srgbClr val="DFEEE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485503" y="3650561"/>
            <a:ext cx="6171952" cy="39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id_aluno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65779" y="3620395"/>
            <a:ext cx="7333393" cy="949071"/>
            <a:chOff x="0" y="0"/>
            <a:chExt cx="9777857" cy="12654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77857" cy="1265428"/>
            </a:xfrm>
            <a:custGeom>
              <a:avLst/>
              <a:gdLst/>
              <a:ahLst/>
              <a:cxnLst/>
              <a:rect r="r" b="b" t="t" l="l"/>
              <a:pathLst>
                <a:path h="1265428" w="9777857">
                  <a:moveTo>
                    <a:pt x="0" y="0"/>
                  </a:moveTo>
                  <a:lnTo>
                    <a:pt x="9777857" y="0"/>
                  </a:lnTo>
                  <a:lnTo>
                    <a:pt x="9777857" y="1265428"/>
                  </a:lnTo>
                  <a:lnTo>
                    <a:pt x="0" y="1265428"/>
                  </a:lnTo>
                  <a:close/>
                </a:path>
              </a:pathLst>
            </a:custGeom>
            <a:solidFill>
              <a:srgbClr val="DFEEE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189188" y="3679136"/>
            <a:ext cx="6886575" cy="739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3B4540"/>
                </a:solidFill>
                <a:latin typeface="Arimo"/>
                <a:ea typeface="Arimo"/>
                <a:cs typeface="Arimo"/>
                <a:sym typeface="Arimo"/>
              </a:rPr>
              <a:t>nome, cpf (UNIQUE), telefone, email (UNIQUE), data_nascimento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2821" y="4569466"/>
            <a:ext cx="3259274" cy="628545"/>
            <a:chOff x="0" y="0"/>
            <a:chExt cx="4345699" cy="8380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45686" cy="838073"/>
            </a:xfrm>
            <a:custGeom>
              <a:avLst/>
              <a:gdLst/>
              <a:ahLst/>
              <a:cxnLst/>
              <a:rect r="r" b="b" t="t" l="l"/>
              <a:pathLst>
                <a:path h="838073" w="4345686">
                  <a:moveTo>
                    <a:pt x="0" y="0"/>
                  </a:moveTo>
                  <a:lnTo>
                    <a:pt x="4345686" y="0"/>
                  </a:lnTo>
                  <a:lnTo>
                    <a:pt x="4345686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26229" y="4599632"/>
            <a:ext cx="3727542" cy="39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Plano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262085" y="4569466"/>
            <a:ext cx="5703684" cy="628545"/>
            <a:chOff x="0" y="0"/>
            <a:chExt cx="7604912" cy="8380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04887" cy="838073"/>
            </a:xfrm>
            <a:custGeom>
              <a:avLst/>
              <a:gdLst/>
              <a:ahLst/>
              <a:cxnLst/>
              <a:rect r="r" b="b" t="t" l="l"/>
              <a:pathLst>
                <a:path h="838073" w="7604887">
                  <a:moveTo>
                    <a:pt x="0" y="0"/>
                  </a:moveTo>
                  <a:lnTo>
                    <a:pt x="7604887" y="0"/>
                  </a:lnTo>
                  <a:lnTo>
                    <a:pt x="7604887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4485503" y="4599632"/>
            <a:ext cx="6171952" cy="39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id_plano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965779" y="4569466"/>
            <a:ext cx="7333393" cy="628545"/>
            <a:chOff x="0" y="0"/>
            <a:chExt cx="9777857" cy="8380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77857" cy="838073"/>
            </a:xfrm>
            <a:custGeom>
              <a:avLst/>
              <a:gdLst/>
              <a:ahLst/>
              <a:cxnLst/>
              <a:rect r="r" b="b" t="t" l="l"/>
              <a:pathLst>
                <a:path h="838073" w="9777857">
                  <a:moveTo>
                    <a:pt x="0" y="0"/>
                  </a:moveTo>
                  <a:lnTo>
                    <a:pt x="9777857" y="0"/>
                  </a:lnTo>
                  <a:lnTo>
                    <a:pt x="9777857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189188" y="4628207"/>
            <a:ext cx="7801661" cy="36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nome, valor, duracao, descricao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02821" y="5198012"/>
            <a:ext cx="3259274" cy="628545"/>
            <a:chOff x="0" y="0"/>
            <a:chExt cx="4345699" cy="8380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45686" cy="838073"/>
            </a:xfrm>
            <a:custGeom>
              <a:avLst/>
              <a:gdLst/>
              <a:ahLst/>
              <a:cxnLst/>
              <a:rect r="r" b="b" t="t" l="l"/>
              <a:pathLst>
                <a:path h="838073" w="4345686">
                  <a:moveTo>
                    <a:pt x="0" y="0"/>
                  </a:moveTo>
                  <a:lnTo>
                    <a:pt x="4345686" y="0"/>
                  </a:lnTo>
                  <a:lnTo>
                    <a:pt x="4345686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FEEE2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226229" y="5228177"/>
            <a:ext cx="3727542" cy="39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Matrícula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262085" y="5198012"/>
            <a:ext cx="5703684" cy="628545"/>
            <a:chOff x="0" y="0"/>
            <a:chExt cx="7604912" cy="8380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04887" cy="838073"/>
            </a:xfrm>
            <a:custGeom>
              <a:avLst/>
              <a:gdLst/>
              <a:ahLst/>
              <a:cxnLst/>
              <a:rect r="r" b="b" t="t" l="l"/>
              <a:pathLst>
                <a:path h="838073" w="7604887">
                  <a:moveTo>
                    <a:pt x="0" y="0"/>
                  </a:moveTo>
                  <a:lnTo>
                    <a:pt x="7604887" y="0"/>
                  </a:lnTo>
                  <a:lnTo>
                    <a:pt x="7604887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FEEE2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4485503" y="5228177"/>
            <a:ext cx="6171952" cy="39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id_matricula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965779" y="5198012"/>
            <a:ext cx="7333393" cy="628545"/>
            <a:chOff x="0" y="0"/>
            <a:chExt cx="9777857" cy="8380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77857" cy="838073"/>
            </a:xfrm>
            <a:custGeom>
              <a:avLst/>
              <a:gdLst/>
              <a:ahLst/>
              <a:cxnLst/>
              <a:rect r="r" b="b" t="t" l="l"/>
              <a:pathLst>
                <a:path h="838073" w="9777857">
                  <a:moveTo>
                    <a:pt x="0" y="0"/>
                  </a:moveTo>
                  <a:lnTo>
                    <a:pt x="9777857" y="0"/>
                  </a:lnTo>
                  <a:lnTo>
                    <a:pt x="9777857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FEEE2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0189188" y="5256752"/>
            <a:ext cx="7801661" cy="36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data_inicio, data_fim, status, FK: id_aluno, id_plano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02821" y="5826557"/>
            <a:ext cx="3259274" cy="628545"/>
            <a:chOff x="0" y="0"/>
            <a:chExt cx="4345699" cy="8380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45686" cy="838073"/>
            </a:xfrm>
            <a:custGeom>
              <a:avLst/>
              <a:gdLst/>
              <a:ahLst/>
              <a:cxnLst/>
              <a:rect r="r" b="b" t="t" l="l"/>
              <a:pathLst>
                <a:path h="838073" w="4345686">
                  <a:moveTo>
                    <a:pt x="0" y="0"/>
                  </a:moveTo>
                  <a:lnTo>
                    <a:pt x="4345686" y="0"/>
                  </a:lnTo>
                  <a:lnTo>
                    <a:pt x="4345686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226229" y="5856732"/>
            <a:ext cx="3727542" cy="39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Instrutor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4262085" y="5826557"/>
            <a:ext cx="5703684" cy="628545"/>
            <a:chOff x="0" y="0"/>
            <a:chExt cx="7604912" cy="8380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04887" cy="838073"/>
            </a:xfrm>
            <a:custGeom>
              <a:avLst/>
              <a:gdLst/>
              <a:ahLst/>
              <a:cxnLst/>
              <a:rect r="r" b="b" t="t" l="l"/>
              <a:pathLst>
                <a:path h="838073" w="7604887">
                  <a:moveTo>
                    <a:pt x="0" y="0"/>
                  </a:moveTo>
                  <a:lnTo>
                    <a:pt x="7604887" y="0"/>
                  </a:lnTo>
                  <a:lnTo>
                    <a:pt x="7604887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4485503" y="5856732"/>
            <a:ext cx="6171952" cy="39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id_instrutor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965779" y="5826557"/>
            <a:ext cx="7333393" cy="628545"/>
            <a:chOff x="0" y="0"/>
            <a:chExt cx="9777857" cy="8380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77857" cy="838073"/>
            </a:xfrm>
            <a:custGeom>
              <a:avLst/>
              <a:gdLst/>
              <a:ahLst/>
              <a:cxnLst/>
              <a:rect r="r" b="b" t="t" l="l"/>
              <a:pathLst>
                <a:path h="838073" w="9777857">
                  <a:moveTo>
                    <a:pt x="0" y="0"/>
                  </a:moveTo>
                  <a:lnTo>
                    <a:pt x="9777857" y="0"/>
                  </a:lnTo>
                  <a:lnTo>
                    <a:pt x="9777857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0189188" y="5885307"/>
            <a:ext cx="7801661" cy="36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nome, especialidade, telefone, email (UNIQUE)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002821" y="6455102"/>
            <a:ext cx="3259274" cy="628545"/>
            <a:chOff x="0" y="0"/>
            <a:chExt cx="4345699" cy="8380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45686" cy="838073"/>
            </a:xfrm>
            <a:custGeom>
              <a:avLst/>
              <a:gdLst/>
              <a:ahLst/>
              <a:cxnLst/>
              <a:rect r="r" b="b" t="t" l="l"/>
              <a:pathLst>
                <a:path h="838073" w="4345686">
                  <a:moveTo>
                    <a:pt x="0" y="0"/>
                  </a:moveTo>
                  <a:lnTo>
                    <a:pt x="4345686" y="0"/>
                  </a:lnTo>
                  <a:lnTo>
                    <a:pt x="4345686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FEEE2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226229" y="6485277"/>
            <a:ext cx="3727542" cy="39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Treino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4262085" y="6455102"/>
            <a:ext cx="5703684" cy="628545"/>
            <a:chOff x="0" y="0"/>
            <a:chExt cx="7604912" cy="8380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604887" cy="838073"/>
            </a:xfrm>
            <a:custGeom>
              <a:avLst/>
              <a:gdLst/>
              <a:ahLst/>
              <a:cxnLst/>
              <a:rect r="r" b="b" t="t" l="l"/>
              <a:pathLst>
                <a:path h="838073" w="7604887">
                  <a:moveTo>
                    <a:pt x="0" y="0"/>
                  </a:moveTo>
                  <a:lnTo>
                    <a:pt x="7604887" y="0"/>
                  </a:lnTo>
                  <a:lnTo>
                    <a:pt x="7604887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FEEE2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4485503" y="6485277"/>
            <a:ext cx="6171952" cy="39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id_treino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965779" y="6455102"/>
            <a:ext cx="7333393" cy="628545"/>
            <a:chOff x="0" y="0"/>
            <a:chExt cx="9777857" cy="8380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77857" cy="838073"/>
            </a:xfrm>
            <a:custGeom>
              <a:avLst/>
              <a:gdLst/>
              <a:ahLst/>
              <a:cxnLst/>
              <a:rect r="r" b="b" t="t" l="l"/>
              <a:pathLst>
                <a:path h="838073" w="9777857">
                  <a:moveTo>
                    <a:pt x="0" y="0"/>
                  </a:moveTo>
                  <a:lnTo>
                    <a:pt x="9777857" y="0"/>
                  </a:lnTo>
                  <a:lnTo>
                    <a:pt x="9777857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FEEE2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0189188" y="6513852"/>
            <a:ext cx="7801661" cy="36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objetivo, data_criacao, observacoes, FK: id_aluno, id_instrutor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002821" y="7083647"/>
            <a:ext cx="3259274" cy="628545"/>
            <a:chOff x="0" y="0"/>
            <a:chExt cx="4345699" cy="8380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345686" cy="838073"/>
            </a:xfrm>
            <a:custGeom>
              <a:avLst/>
              <a:gdLst/>
              <a:ahLst/>
              <a:cxnLst/>
              <a:rect r="r" b="b" t="t" l="l"/>
              <a:pathLst>
                <a:path h="838073" w="4345686">
                  <a:moveTo>
                    <a:pt x="0" y="0"/>
                  </a:moveTo>
                  <a:lnTo>
                    <a:pt x="4345686" y="0"/>
                  </a:lnTo>
                  <a:lnTo>
                    <a:pt x="4345686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226229" y="7113822"/>
            <a:ext cx="3727542" cy="39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Exercício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4262085" y="7083647"/>
            <a:ext cx="5703684" cy="628545"/>
            <a:chOff x="0" y="0"/>
            <a:chExt cx="7604912" cy="8380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604887" cy="838073"/>
            </a:xfrm>
            <a:custGeom>
              <a:avLst/>
              <a:gdLst/>
              <a:ahLst/>
              <a:cxnLst/>
              <a:rect r="r" b="b" t="t" l="l"/>
              <a:pathLst>
                <a:path h="838073" w="7604887">
                  <a:moveTo>
                    <a:pt x="0" y="0"/>
                  </a:moveTo>
                  <a:lnTo>
                    <a:pt x="7604887" y="0"/>
                  </a:lnTo>
                  <a:lnTo>
                    <a:pt x="7604887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4485503" y="7113822"/>
            <a:ext cx="6171952" cy="39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id_exercicio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9965779" y="7083647"/>
            <a:ext cx="7333393" cy="628545"/>
            <a:chOff x="0" y="0"/>
            <a:chExt cx="9777857" cy="8380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777857" cy="838073"/>
            </a:xfrm>
            <a:custGeom>
              <a:avLst/>
              <a:gdLst/>
              <a:ahLst/>
              <a:cxnLst/>
              <a:rect r="r" b="b" t="t" l="l"/>
              <a:pathLst>
                <a:path h="838073" w="9777857">
                  <a:moveTo>
                    <a:pt x="0" y="0"/>
                  </a:moveTo>
                  <a:lnTo>
                    <a:pt x="9777857" y="0"/>
                  </a:lnTo>
                  <a:lnTo>
                    <a:pt x="9777857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10189188" y="7142397"/>
            <a:ext cx="7801661" cy="36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nome, grupo_muscular, descricao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002821" y="7712192"/>
            <a:ext cx="3259274" cy="628545"/>
            <a:chOff x="0" y="0"/>
            <a:chExt cx="4345699" cy="8380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45686" cy="838073"/>
            </a:xfrm>
            <a:custGeom>
              <a:avLst/>
              <a:gdLst/>
              <a:ahLst/>
              <a:cxnLst/>
              <a:rect r="r" b="b" t="t" l="l"/>
              <a:pathLst>
                <a:path h="838073" w="4345686">
                  <a:moveTo>
                    <a:pt x="0" y="0"/>
                  </a:moveTo>
                  <a:lnTo>
                    <a:pt x="4345686" y="0"/>
                  </a:lnTo>
                  <a:lnTo>
                    <a:pt x="4345686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FEEE2"/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226229" y="7742368"/>
            <a:ext cx="3727542" cy="39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Treino_Exercício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4262085" y="7712192"/>
            <a:ext cx="5703684" cy="628545"/>
            <a:chOff x="0" y="0"/>
            <a:chExt cx="7604912" cy="8380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604887" cy="838073"/>
            </a:xfrm>
            <a:custGeom>
              <a:avLst/>
              <a:gdLst/>
              <a:ahLst/>
              <a:cxnLst/>
              <a:rect r="r" b="b" t="t" l="l"/>
              <a:pathLst>
                <a:path h="838073" w="7604887">
                  <a:moveTo>
                    <a:pt x="0" y="0"/>
                  </a:moveTo>
                  <a:lnTo>
                    <a:pt x="7604887" y="0"/>
                  </a:lnTo>
                  <a:lnTo>
                    <a:pt x="7604887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FEEE2"/>
            </a:solid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4485503" y="7742368"/>
            <a:ext cx="6171952" cy="39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id_treino_exercicio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9965779" y="7712192"/>
            <a:ext cx="7333393" cy="763495"/>
            <a:chOff x="0" y="0"/>
            <a:chExt cx="9777857" cy="101799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777857" cy="1018007"/>
            </a:xfrm>
            <a:custGeom>
              <a:avLst/>
              <a:gdLst/>
              <a:ahLst/>
              <a:cxnLst/>
              <a:rect r="r" b="b" t="t" l="l"/>
              <a:pathLst>
                <a:path h="1018007" w="9777857">
                  <a:moveTo>
                    <a:pt x="0" y="0"/>
                  </a:moveTo>
                  <a:lnTo>
                    <a:pt x="9777857" y="0"/>
                  </a:lnTo>
                  <a:lnTo>
                    <a:pt x="9777857" y="1018007"/>
                  </a:lnTo>
                  <a:lnTo>
                    <a:pt x="0" y="1018007"/>
                  </a:lnTo>
                  <a:close/>
                </a:path>
              </a:pathLst>
            </a:custGeom>
            <a:solidFill>
              <a:srgbClr val="DFEEE2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0189188" y="7770943"/>
            <a:ext cx="7801661" cy="36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series, repeticoes, carga, descanso, FK: id_treino, id_exercicio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002821" y="8340747"/>
            <a:ext cx="3259274" cy="944308"/>
            <a:chOff x="0" y="0"/>
            <a:chExt cx="4345699" cy="125907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345686" cy="1259078"/>
            </a:xfrm>
            <a:custGeom>
              <a:avLst/>
              <a:gdLst/>
              <a:ahLst/>
              <a:cxnLst/>
              <a:rect r="r" b="b" t="t" l="l"/>
              <a:pathLst>
                <a:path h="1259078" w="4345686">
                  <a:moveTo>
                    <a:pt x="0" y="0"/>
                  </a:moveTo>
                  <a:lnTo>
                    <a:pt x="4345686" y="0"/>
                  </a:lnTo>
                  <a:lnTo>
                    <a:pt x="4345686" y="1259078"/>
                  </a:lnTo>
                  <a:lnTo>
                    <a:pt x="0" y="1259078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sp>
        <p:nvSpPr>
          <p:cNvPr name="TextBox 82" id="82"/>
          <p:cNvSpPr txBox="true"/>
          <p:nvPr/>
        </p:nvSpPr>
        <p:spPr>
          <a:xfrm rot="0">
            <a:off x="1226229" y="8370913"/>
            <a:ext cx="3727542" cy="39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Pagamento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4262085" y="8340747"/>
            <a:ext cx="5703684" cy="944308"/>
            <a:chOff x="0" y="0"/>
            <a:chExt cx="7604912" cy="125907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604887" cy="1259078"/>
            </a:xfrm>
            <a:custGeom>
              <a:avLst/>
              <a:gdLst/>
              <a:ahLst/>
              <a:cxnLst/>
              <a:rect r="r" b="b" t="t" l="l"/>
              <a:pathLst>
                <a:path h="1259078" w="7604887">
                  <a:moveTo>
                    <a:pt x="0" y="0"/>
                  </a:moveTo>
                  <a:lnTo>
                    <a:pt x="7604887" y="0"/>
                  </a:lnTo>
                  <a:lnTo>
                    <a:pt x="7604887" y="1259078"/>
                  </a:lnTo>
                  <a:lnTo>
                    <a:pt x="0" y="1259078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4485503" y="8370913"/>
            <a:ext cx="6171952" cy="39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id_pagamento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9811157" y="8339147"/>
            <a:ext cx="7488014" cy="945909"/>
            <a:chOff x="0" y="0"/>
            <a:chExt cx="9984019" cy="126121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984018" cy="1261212"/>
            </a:xfrm>
            <a:custGeom>
              <a:avLst/>
              <a:gdLst/>
              <a:ahLst/>
              <a:cxnLst/>
              <a:rect r="r" b="b" t="t" l="l"/>
              <a:pathLst>
                <a:path h="1261212" w="9984018">
                  <a:moveTo>
                    <a:pt x="0" y="0"/>
                  </a:moveTo>
                  <a:lnTo>
                    <a:pt x="9984018" y="0"/>
                  </a:lnTo>
                  <a:lnTo>
                    <a:pt x="9984018" y="1261212"/>
                  </a:lnTo>
                  <a:lnTo>
                    <a:pt x="0" y="1261212"/>
                  </a:lnTo>
                  <a:close/>
                </a:path>
              </a:pathLst>
            </a:custGeom>
            <a:solidFill>
              <a:srgbClr val="D1E7D2"/>
            </a:solidFill>
          </p:spPr>
        </p:sp>
      </p:grpSp>
      <p:sp>
        <p:nvSpPr>
          <p:cNvPr name="TextBox 88" id="88"/>
          <p:cNvSpPr txBox="true"/>
          <p:nvPr/>
        </p:nvSpPr>
        <p:spPr>
          <a:xfrm rot="0">
            <a:off x="10189188" y="8399488"/>
            <a:ext cx="6886575" cy="739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1926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data_pagamento, valor, forma_pagamento, status, FK: id_aluno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3134" y="1389964"/>
            <a:ext cx="13911510" cy="79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Modelagem Física — Chaves e Constraints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3134" y="2595429"/>
            <a:ext cx="16315563" cy="8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A modelagem física foi implementada via script SQL no MariaDB 10.4, criando as tabelas com tipos de dados, índices, chaves e restrições de integridade.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3134" y="4003034"/>
            <a:ext cx="4129983" cy="38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Chaves Estrangeiras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3134" y="4524870"/>
            <a:ext cx="7854991" cy="16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1565" indent="-185783" lvl="1">
              <a:lnSpc>
                <a:spcPts val="3274"/>
              </a:lnSpc>
              <a:buFont typeface="Arial"/>
              <a:buChar char="•"/>
            </a:pPr>
            <a:r>
              <a:rPr lang="en-US" sz="2051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fk_matricula_aluno e fk_matricula_plano</a:t>
            </a:r>
          </a:p>
          <a:p>
            <a:pPr algn="l" marL="371565" indent="-185783" lvl="1">
              <a:lnSpc>
                <a:spcPts val="3274"/>
              </a:lnSpc>
              <a:buFont typeface="Arial"/>
              <a:buChar char="•"/>
            </a:pPr>
            <a:r>
              <a:rPr lang="en-US" sz="2051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fk_pagamento_aluno</a:t>
            </a:r>
          </a:p>
          <a:p>
            <a:pPr algn="l" marL="371565" indent="-185783" lvl="1">
              <a:lnSpc>
                <a:spcPts val="3274"/>
              </a:lnSpc>
              <a:buFont typeface="Arial"/>
              <a:buChar char="•"/>
            </a:pPr>
            <a:r>
              <a:rPr lang="en-US" sz="2051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fk_treino_aluno e fk_treino_instrutor</a:t>
            </a:r>
          </a:p>
          <a:p>
            <a:pPr algn="l" marL="371565" indent="-185783" lvl="1">
              <a:lnSpc>
                <a:spcPts val="3274"/>
              </a:lnSpc>
              <a:buFont typeface="Arial"/>
              <a:buChar char="•"/>
            </a:pPr>
            <a:r>
              <a:rPr lang="en-US" sz="2051">
                <a:solidFill>
                  <a:srgbClr val="405449"/>
                </a:solidFill>
                <a:latin typeface="Consolas"/>
                <a:ea typeface="Consolas"/>
                <a:cs typeface="Consolas"/>
                <a:sym typeface="Consolas"/>
              </a:rPr>
              <a:t>fk_treinoex_treino e fk_treinoex_exercicio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3134" y="6844151"/>
            <a:ext cx="7854991" cy="1762458"/>
            <a:chOff x="0" y="0"/>
            <a:chExt cx="10473322" cy="23499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73310" cy="2350008"/>
            </a:xfrm>
            <a:custGeom>
              <a:avLst/>
              <a:gdLst/>
              <a:ahLst/>
              <a:cxnLst/>
              <a:rect r="r" b="b" t="t" l="l"/>
              <a:pathLst>
                <a:path h="2350008" w="10473310">
                  <a:moveTo>
                    <a:pt x="0" y="297942"/>
                  </a:moveTo>
                  <a:cubicBezTo>
                    <a:pt x="0" y="133350"/>
                    <a:pt x="133350" y="0"/>
                    <a:pt x="297942" y="0"/>
                  </a:cubicBezTo>
                  <a:lnTo>
                    <a:pt x="10175367" y="0"/>
                  </a:lnTo>
                  <a:cubicBezTo>
                    <a:pt x="10339960" y="0"/>
                    <a:pt x="10473310" y="133350"/>
                    <a:pt x="10473310" y="297942"/>
                  </a:cubicBezTo>
                  <a:lnTo>
                    <a:pt x="10473310" y="2052066"/>
                  </a:lnTo>
                  <a:cubicBezTo>
                    <a:pt x="10473310" y="2216658"/>
                    <a:pt x="10339960" y="2350008"/>
                    <a:pt x="10175367" y="2350008"/>
                  </a:cubicBezTo>
                  <a:lnTo>
                    <a:pt x="297942" y="2350008"/>
                  </a:lnTo>
                  <a:cubicBezTo>
                    <a:pt x="133350" y="2350008"/>
                    <a:pt x="0" y="2216531"/>
                    <a:pt x="0" y="2052066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41269" y="7203996"/>
            <a:ext cx="310239" cy="248145"/>
            <a:chOff x="0" y="0"/>
            <a:chExt cx="413652" cy="33086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13639" cy="330835"/>
            </a:xfrm>
            <a:custGeom>
              <a:avLst/>
              <a:gdLst/>
              <a:ahLst/>
              <a:cxnLst/>
              <a:rect r="r" b="b" t="t" l="l"/>
              <a:pathLst>
                <a:path h="330835" w="413639">
                  <a:moveTo>
                    <a:pt x="0" y="0"/>
                  </a:moveTo>
                  <a:lnTo>
                    <a:pt x="413639" y="0"/>
                  </a:lnTo>
                  <a:lnTo>
                    <a:pt x="413639" y="330835"/>
                  </a:lnTo>
                  <a:lnTo>
                    <a:pt x="0" y="330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47" r="-3" b="-115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99653" y="7034279"/>
            <a:ext cx="6800336" cy="1286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Algumas FKs foram configuradas com </a:t>
            </a:r>
            <a:r>
              <a:rPr lang="en-US" sz="1951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ON DELETE CASCADE</a:t>
            </a:r>
            <a:r>
              <a:rPr lang="en-US" sz="19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ao excluir um aluno, todos os seus treinos e pagamentos são automaticamente removidos.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84522" y="3754888"/>
            <a:ext cx="8212445" cy="3970491"/>
            <a:chOff x="0" y="0"/>
            <a:chExt cx="10949927" cy="52939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49939" cy="5294027"/>
            </a:xfrm>
            <a:custGeom>
              <a:avLst/>
              <a:gdLst/>
              <a:ahLst/>
              <a:cxnLst/>
              <a:rect r="r" b="b" t="t" l="l"/>
              <a:pathLst>
                <a:path h="5294027" w="10949939">
                  <a:moveTo>
                    <a:pt x="0" y="368927"/>
                  </a:moveTo>
                  <a:cubicBezTo>
                    <a:pt x="0" y="165202"/>
                    <a:pt x="213487" y="0"/>
                    <a:pt x="476758" y="0"/>
                  </a:cubicBezTo>
                  <a:lnTo>
                    <a:pt x="10473182" y="0"/>
                  </a:lnTo>
                  <a:cubicBezTo>
                    <a:pt x="10736452" y="0"/>
                    <a:pt x="10949939" y="165202"/>
                    <a:pt x="10949939" y="368927"/>
                  </a:cubicBezTo>
                  <a:lnTo>
                    <a:pt x="10949939" y="4925091"/>
                  </a:lnTo>
                  <a:cubicBezTo>
                    <a:pt x="10949939" y="5128816"/>
                    <a:pt x="10736452" y="5294027"/>
                    <a:pt x="10473182" y="5294027"/>
                  </a:cubicBezTo>
                  <a:lnTo>
                    <a:pt x="476758" y="5294027"/>
                  </a:lnTo>
                  <a:cubicBezTo>
                    <a:pt x="213487" y="5294027"/>
                    <a:pt x="0" y="5128816"/>
                    <a:pt x="0" y="4925091"/>
                  </a:cubicBezTo>
                  <a:close/>
                </a:path>
              </a:pathLst>
            </a:custGeom>
            <a:solidFill>
              <a:srgbClr val="4A644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532658" y="4003034"/>
            <a:ext cx="5211222" cy="35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Constraints Aplicadas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32658" y="4746679"/>
            <a:ext cx="7539192" cy="244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1534" indent="-185767" lvl="1">
              <a:lnSpc>
                <a:spcPts val="3274"/>
              </a:lnSpc>
              <a:buFont typeface="Arial"/>
              <a:buChar char="•"/>
            </a:pPr>
            <a:r>
              <a:rPr lang="en-US" b="true" sz="205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UNIQUE</a:t>
            </a:r>
            <a:r>
              <a:rPr lang="en-US" sz="20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nos campos cpf e email da tabela Aluno e email da tabela Instrutor, impedindo registros duplicados</a:t>
            </a:r>
          </a:p>
          <a:p>
            <a:pPr algn="l">
              <a:lnSpc>
                <a:spcPts val="3274"/>
              </a:lnSpc>
            </a:pPr>
          </a:p>
          <a:p>
            <a:pPr algn="l" marL="371565" indent="-185783" lvl="1">
              <a:lnSpc>
                <a:spcPts val="3274"/>
              </a:lnSpc>
              <a:buFont typeface="Arial"/>
              <a:buChar char="•"/>
            </a:pPr>
            <a:r>
              <a:rPr lang="en-US" b="true" sz="205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NOT NULL</a:t>
            </a:r>
            <a:r>
              <a:rPr lang="en-US" sz="20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nos campos obrigatórios: nome, cpf, data_nascimento, data_inicio, data_fim, status, valor, forma_pagamento, objetivo e data_criacao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3134" y="2125008"/>
            <a:ext cx="9169241" cy="79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Testes: INSERT e UPDATE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3134" y="3330464"/>
            <a:ext cx="16315563" cy="8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Os comandos de manipulação de dados (DML) foram testados para validar a integridade e o comportamento do banco de dados em situações reais de uso.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8837" y="4475636"/>
            <a:ext cx="16344167" cy="3689509"/>
            <a:chOff x="0" y="0"/>
            <a:chExt cx="21792222" cy="49193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92185" cy="4919345"/>
            </a:xfrm>
            <a:custGeom>
              <a:avLst/>
              <a:gdLst/>
              <a:ahLst/>
              <a:cxnLst/>
              <a:rect r="r" b="b" t="t" l="l"/>
              <a:pathLst>
                <a:path h="4919345" w="21792185">
                  <a:moveTo>
                    <a:pt x="0" y="300228"/>
                  </a:moveTo>
                  <a:cubicBezTo>
                    <a:pt x="0" y="134493"/>
                    <a:pt x="134493" y="0"/>
                    <a:pt x="300228" y="0"/>
                  </a:cubicBezTo>
                  <a:lnTo>
                    <a:pt x="21491956" y="0"/>
                  </a:lnTo>
                  <a:cubicBezTo>
                    <a:pt x="21657819" y="0"/>
                    <a:pt x="21792185" y="134493"/>
                    <a:pt x="21792185" y="300228"/>
                  </a:cubicBezTo>
                  <a:lnTo>
                    <a:pt x="21792185" y="4619117"/>
                  </a:lnTo>
                  <a:cubicBezTo>
                    <a:pt x="21792185" y="4784979"/>
                    <a:pt x="21657692" y="4919345"/>
                    <a:pt x="21491956" y="4919345"/>
                  </a:cubicBezTo>
                  <a:lnTo>
                    <a:pt x="300228" y="4919345"/>
                  </a:lnTo>
                  <a:cubicBezTo>
                    <a:pt x="134493" y="4919345"/>
                    <a:pt x="0" y="4784852"/>
                    <a:pt x="0" y="4619117"/>
                  </a:cubicBezTo>
                  <a:close/>
                </a:path>
              </a:pathLst>
            </a:custGeom>
            <a:solidFill>
              <a:srgbClr val="DDEEE0"/>
            </a:solidFill>
            <a:ln w="28597" cap="sq">
              <a:solidFill>
                <a:srgbClr val="C3D4C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21737" y="4518527"/>
            <a:ext cx="8129187" cy="3603717"/>
            <a:chOff x="0" y="0"/>
            <a:chExt cx="10838917" cy="48049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38942" cy="4804918"/>
            </a:xfrm>
            <a:custGeom>
              <a:avLst/>
              <a:gdLst/>
              <a:ahLst/>
              <a:cxnLst/>
              <a:rect r="r" b="b" t="t" l="l"/>
              <a:pathLst>
                <a:path h="4804918" w="10838942">
                  <a:moveTo>
                    <a:pt x="0" y="0"/>
                  </a:moveTo>
                  <a:lnTo>
                    <a:pt x="10838942" y="0"/>
                  </a:lnTo>
                  <a:lnTo>
                    <a:pt x="10838942" y="4804918"/>
                  </a:lnTo>
                  <a:lnTo>
                    <a:pt x="0" y="4804918"/>
                  </a:lnTo>
                  <a:close/>
                </a:path>
              </a:pathLst>
            </a:custGeom>
            <a:solidFill>
              <a:srgbClr val="DDEEE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69873" y="4766672"/>
            <a:ext cx="4189929" cy="35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INSERT — Inserção de Dados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9873" y="5427440"/>
            <a:ext cx="7632916" cy="244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Comandos utilizados para popular o banco com novos registros nas tabelas aluno, instrutor, plano, matrícula, pagamento, exercício, treino e treino_exercício.</a:t>
            </a:r>
          </a:p>
          <a:p>
            <a:pPr algn="l">
              <a:lnSpc>
                <a:spcPts val="3274"/>
              </a:lnSpc>
            </a:pPr>
            <a:r>
              <a:rPr lang="en-US" sz="2051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Total: 10 novas linhas</a:t>
            </a: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inseridas, distribuídas entre as diferentes tabelas do sistema, respeitando a ordem de dependência entre entidades.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50925" y="4518527"/>
            <a:ext cx="8129187" cy="3603717"/>
            <a:chOff x="0" y="0"/>
            <a:chExt cx="10838917" cy="48049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38942" cy="4804918"/>
            </a:xfrm>
            <a:custGeom>
              <a:avLst/>
              <a:gdLst/>
              <a:ahLst/>
              <a:cxnLst/>
              <a:rect r="r" b="b" t="t" l="l"/>
              <a:pathLst>
                <a:path h="4804918" w="10838942">
                  <a:moveTo>
                    <a:pt x="0" y="0"/>
                  </a:moveTo>
                  <a:lnTo>
                    <a:pt x="10838942" y="0"/>
                  </a:lnTo>
                  <a:lnTo>
                    <a:pt x="10838942" y="4804918"/>
                  </a:lnTo>
                  <a:lnTo>
                    <a:pt x="0" y="4804918"/>
                  </a:lnTo>
                  <a:close/>
                </a:path>
              </a:pathLst>
            </a:custGeom>
            <a:solidFill>
              <a:srgbClr val="DDEEE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50925" y="4518527"/>
            <a:ext cx="28594" cy="3603717"/>
            <a:chOff x="0" y="0"/>
            <a:chExt cx="38125" cy="48049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" cy="4804918"/>
            </a:xfrm>
            <a:custGeom>
              <a:avLst/>
              <a:gdLst/>
              <a:ahLst/>
              <a:cxnLst/>
              <a:rect r="r" b="b" t="t" l="l"/>
              <a:pathLst>
                <a:path h="4804918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4785868"/>
                  </a:lnTo>
                  <a:cubicBezTo>
                    <a:pt x="38100" y="4796409"/>
                    <a:pt x="29591" y="4804918"/>
                    <a:pt x="19050" y="4804918"/>
                  </a:cubicBezTo>
                  <a:cubicBezTo>
                    <a:pt x="8509" y="4804918"/>
                    <a:pt x="0" y="4796409"/>
                    <a:pt x="0" y="4785868"/>
                  </a:cubicBezTo>
                  <a:close/>
                </a:path>
              </a:pathLst>
            </a:custGeom>
            <a:solidFill>
              <a:srgbClr val="C3D4C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399060" y="4766672"/>
            <a:ext cx="4754642" cy="35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UPDATE — Atualização de Dados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99060" y="5398865"/>
            <a:ext cx="7632916" cy="244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Comandos aplicados para modificar registros já existentes, simulando situações reais como alteração de telefone, e-mail, status de matrícula, valor de plano, especialidade de instrutor, objetivo de treino e carga de exercício.</a:t>
            </a:r>
          </a:p>
          <a:p>
            <a:pPr algn="l">
              <a:lnSpc>
                <a:spcPts val="3274"/>
              </a:lnSpc>
            </a:pPr>
            <a:r>
              <a:rPr lang="en-US" sz="2051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Todos os 10 comandos</a:t>
            </a: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foram executados com sucesso, retornando </a:t>
            </a:r>
            <a:r>
              <a:rPr lang="en-US" sz="2051" i="true">
                <a:solidFill>
                  <a:srgbClr val="405449"/>
                </a:solidFill>
                <a:latin typeface="Arimo Italics"/>
                <a:ea typeface="Arimo Italics"/>
                <a:cs typeface="Arimo Italics"/>
                <a:sym typeface="Arimo Italics"/>
              </a:rPr>
              <a:t>"1 linha afetada"</a:t>
            </a: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para cada operação.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3134" y="1821161"/>
            <a:ext cx="9050388" cy="79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Testes: DELETE e SELECT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3134" y="3236414"/>
            <a:ext cx="5540740" cy="38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DELETE — Exclusão de Dados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3134" y="3786835"/>
            <a:ext cx="7854991" cy="203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Foram testados </a:t>
            </a:r>
            <a:r>
              <a:rPr lang="en-US" sz="2051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10 comandos de exclusão</a:t>
            </a: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nas tabelas do sistema, validando o comportamento das chaves estrangeiras e do ON DELETE CASCADE. Os testes confirmaram que a exclusão de registros "mães" propaga corretamente para as tabelas dependentes.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84522" y="2988278"/>
            <a:ext cx="8212445" cy="5466407"/>
            <a:chOff x="0" y="0"/>
            <a:chExt cx="10949927" cy="72885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49940" cy="7288530"/>
            </a:xfrm>
            <a:custGeom>
              <a:avLst/>
              <a:gdLst/>
              <a:ahLst/>
              <a:cxnLst/>
              <a:rect r="r" b="b" t="t" l="l"/>
              <a:pathLst>
                <a:path h="7288530" w="10949940">
                  <a:moveTo>
                    <a:pt x="0" y="476631"/>
                  </a:moveTo>
                  <a:cubicBezTo>
                    <a:pt x="0" y="213360"/>
                    <a:pt x="213360" y="0"/>
                    <a:pt x="476631" y="0"/>
                  </a:cubicBezTo>
                  <a:lnTo>
                    <a:pt x="10473309" y="0"/>
                  </a:lnTo>
                  <a:cubicBezTo>
                    <a:pt x="10736580" y="0"/>
                    <a:pt x="10949940" y="213360"/>
                    <a:pt x="10949940" y="476631"/>
                  </a:cubicBezTo>
                  <a:lnTo>
                    <a:pt x="10949940" y="6811899"/>
                  </a:lnTo>
                  <a:cubicBezTo>
                    <a:pt x="10949940" y="7075170"/>
                    <a:pt x="10736580" y="7288530"/>
                    <a:pt x="10473309" y="7288530"/>
                  </a:cubicBezTo>
                  <a:lnTo>
                    <a:pt x="476631" y="7288530"/>
                  </a:lnTo>
                  <a:cubicBezTo>
                    <a:pt x="213360" y="7288530"/>
                    <a:pt x="0" y="7075170"/>
                    <a:pt x="0" y="6811899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532658" y="3236414"/>
            <a:ext cx="6112383" cy="38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FAFFFA"/>
                </a:solidFill>
                <a:latin typeface="Fraunces"/>
                <a:ea typeface="Fraunces"/>
                <a:cs typeface="Fraunces"/>
                <a:sym typeface="Fraunces"/>
              </a:rPr>
              <a:t>SELECT — Consultas e Relatórios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32658" y="3786835"/>
            <a:ext cx="7716174" cy="8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Elaboradas </a:t>
            </a:r>
            <a:r>
              <a:rPr lang="en-US" sz="2051" b="true">
                <a:solidFill>
                  <a:srgbClr val="FAFFFA"/>
                </a:solidFill>
                <a:latin typeface="Arimo Bold"/>
                <a:ea typeface="Arimo Bold"/>
                <a:cs typeface="Arimo Bold"/>
                <a:sym typeface="Arimo Bold"/>
              </a:rPr>
              <a:t>10 consultas SQL</a:t>
            </a:r>
            <a:r>
              <a:rPr lang="en-US" sz="20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demonstrando diferentes recursos da linguagem: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32658" y="4804715"/>
            <a:ext cx="7716174" cy="162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1565" indent="-185783" lvl="1">
              <a:lnSpc>
                <a:spcPts val="3274"/>
              </a:lnSpc>
              <a:buFont typeface="Arial"/>
              <a:buChar char="•"/>
            </a:pPr>
            <a:r>
              <a:rPr lang="en-US" sz="2051">
                <a:solidFill>
                  <a:srgbClr val="FAFFFA"/>
                </a:solidFill>
                <a:latin typeface="Arimo"/>
                <a:ea typeface="Arimo"/>
                <a:cs typeface="Arimo"/>
                <a:sym typeface="Arimo"/>
              </a:rPr>
              <a:t>Filtros com </a:t>
            </a:r>
            <a:r>
              <a:rPr lang="en-US" sz="20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WHERE</a:t>
            </a:r>
            <a:r>
              <a:rPr lang="en-US" sz="2051">
                <a:solidFill>
                  <a:srgbClr val="FAFFFA"/>
                </a:solidFill>
                <a:latin typeface="Arimo"/>
                <a:ea typeface="Arimo"/>
                <a:cs typeface="Arimo"/>
                <a:sym typeface="Arimo"/>
              </a:rPr>
              <a:t> e ordenação com </a:t>
            </a:r>
            <a:r>
              <a:rPr lang="en-US" sz="20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ORDER BY</a:t>
            </a:r>
          </a:p>
          <a:p>
            <a:pPr algn="l" marL="371565" indent="-185783" lvl="1">
              <a:lnSpc>
                <a:spcPts val="3274"/>
              </a:lnSpc>
              <a:buFont typeface="Arial"/>
              <a:buChar char="•"/>
            </a:pPr>
            <a:r>
              <a:rPr lang="en-US" sz="2051">
                <a:solidFill>
                  <a:srgbClr val="FAFFFA"/>
                </a:solidFill>
                <a:latin typeface="Arimo"/>
                <a:ea typeface="Arimo"/>
                <a:cs typeface="Arimo"/>
                <a:sym typeface="Arimo"/>
              </a:rPr>
              <a:t>Junções entre tabelas com </a:t>
            </a:r>
            <a:r>
              <a:rPr lang="en-US" sz="20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JOIN</a:t>
            </a:r>
          </a:p>
          <a:p>
            <a:pPr algn="l" marL="371565" indent="-185783" lvl="1">
              <a:lnSpc>
                <a:spcPts val="3274"/>
              </a:lnSpc>
              <a:buFont typeface="Arial"/>
              <a:buChar char="•"/>
            </a:pPr>
            <a:r>
              <a:rPr lang="en-US" sz="2051">
                <a:solidFill>
                  <a:srgbClr val="FAFFFA"/>
                </a:solidFill>
                <a:latin typeface="Arimo"/>
                <a:ea typeface="Arimo"/>
                <a:cs typeface="Arimo"/>
                <a:sym typeface="Arimo"/>
              </a:rPr>
              <a:t>Agrupamentos com </a:t>
            </a:r>
            <a:r>
              <a:rPr lang="en-US" sz="20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GROUP BY</a:t>
            </a:r>
          </a:p>
          <a:p>
            <a:pPr algn="l" marL="371565" indent="-185783" lvl="1">
              <a:lnSpc>
                <a:spcPts val="3274"/>
              </a:lnSpc>
              <a:buFont typeface="Arial"/>
              <a:buChar char="•"/>
            </a:pPr>
            <a:r>
              <a:rPr lang="en-US" sz="2051">
                <a:solidFill>
                  <a:srgbClr val="FAFFFA"/>
                </a:solidFill>
                <a:latin typeface="Arimo"/>
                <a:ea typeface="Arimo"/>
                <a:cs typeface="Arimo"/>
                <a:sym typeface="Arimo"/>
              </a:rPr>
              <a:t>Funções de agregação: </a:t>
            </a:r>
            <a:r>
              <a:rPr lang="en-US" sz="20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COUNT</a:t>
            </a:r>
            <a:r>
              <a:rPr lang="en-US" sz="2051">
                <a:solidFill>
                  <a:srgbClr val="FAFFFA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0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SUM</a:t>
            </a:r>
            <a:r>
              <a:rPr lang="en-US" sz="2051">
                <a:solidFill>
                  <a:srgbClr val="FAFFFA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0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GROUP_CONCAT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32658" y="6953841"/>
            <a:ext cx="7716174" cy="121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51">
                <a:solidFill>
                  <a:srgbClr val="FAFFFA"/>
                </a:solidFill>
                <a:latin typeface="Arimo"/>
                <a:ea typeface="Arimo"/>
                <a:cs typeface="Arimo"/>
                <a:sym typeface="Arimo"/>
              </a:rPr>
              <a:t>Destaques: listagem de matrículas ativas, total pago por aluno, instrutor com mais treinos e resumo de exercícios por grupo muscular.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3134" y="930773"/>
            <a:ext cx="6191021" cy="67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Conclusão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3134" y="1901180"/>
            <a:ext cx="16315563" cy="75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7"/>
              </a:lnSpc>
            </a:pP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O projeto permitiu consolidar na prática conceitos fundamentais de bancos de dados relacionais, resultando em um sistema </a:t>
            </a:r>
            <a:r>
              <a:rPr lang="en-US" sz="2051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totalmente funcional e validado</a:t>
            </a:r>
            <a:r>
              <a:rPr lang="en-US" sz="20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no phpMyAdmin.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3134" y="2794197"/>
            <a:ext cx="8068123" cy="2457736"/>
          </a:xfrm>
          <a:custGeom>
            <a:avLst/>
            <a:gdLst/>
            <a:ahLst/>
            <a:cxnLst/>
            <a:rect r="r" b="b" t="t" l="l"/>
            <a:pathLst>
              <a:path h="2457736" w="8068123">
                <a:moveTo>
                  <a:pt x="0" y="0"/>
                </a:moveTo>
                <a:lnTo>
                  <a:pt x="8068122" y="0"/>
                </a:lnTo>
                <a:lnTo>
                  <a:pt x="8068122" y="2457736"/>
                </a:lnTo>
                <a:lnTo>
                  <a:pt x="0" y="245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25" r="0" b="-325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900593" y="2952379"/>
            <a:ext cx="253203" cy="316506"/>
            <a:chOff x="0" y="0"/>
            <a:chExt cx="337604" cy="4220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7600" cy="422010"/>
            </a:xfrm>
            <a:custGeom>
              <a:avLst/>
              <a:gdLst/>
              <a:ahLst/>
              <a:cxnLst/>
              <a:rect r="r" b="b" t="t" l="l"/>
              <a:pathLst>
                <a:path h="422010" w="337600">
                  <a:moveTo>
                    <a:pt x="0" y="0"/>
                  </a:moveTo>
                  <a:lnTo>
                    <a:pt x="337600" y="0"/>
                  </a:lnTo>
                  <a:lnTo>
                    <a:pt x="337600" y="422010"/>
                  </a:lnTo>
                  <a:lnTo>
                    <a:pt x="0" y="4220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82" t="0" r="-11038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37604" cy="422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FFFFFF"/>
                  </a:solidFill>
                  <a:latin typeface="Fraunces"/>
                  <a:ea typeface="Fraunces"/>
                  <a:cs typeface="Fraunces"/>
                  <a:sym typeface="Fraunces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32630" y="3619214"/>
            <a:ext cx="3854648" cy="36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Normalização e Integridade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2630" y="4008739"/>
            <a:ext cx="7589129" cy="108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9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Compreensão da importância da normalização para evitar redundâncias e do papel crítico das chaves estrangeiras na consistência do sistema.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240584" y="2794197"/>
            <a:ext cx="8068123" cy="2457736"/>
          </a:xfrm>
          <a:custGeom>
            <a:avLst/>
            <a:gdLst/>
            <a:ahLst/>
            <a:cxnLst/>
            <a:rect r="r" b="b" t="t" l="l"/>
            <a:pathLst>
              <a:path h="2457736" w="8068123">
                <a:moveTo>
                  <a:pt x="0" y="0"/>
                </a:moveTo>
                <a:lnTo>
                  <a:pt x="8068122" y="0"/>
                </a:lnTo>
                <a:lnTo>
                  <a:pt x="8068122" y="2457736"/>
                </a:lnTo>
                <a:lnTo>
                  <a:pt x="0" y="245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25" r="0" b="-325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3148043" y="2952379"/>
            <a:ext cx="253203" cy="316506"/>
            <a:chOff x="0" y="0"/>
            <a:chExt cx="337604" cy="4220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7600" cy="422010"/>
            </a:xfrm>
            <a:custGeom>
              <a:avLst/>
              <a:gdLst/>
              <a:ahLst/>
              <a:cxnLst/>
              <a:rect r="r" b="b" t="t" l="l"/>
              <a:pathLst>
                <a:path h="422010" w="337600">
                  <a:moveTo>
                    <a:pt x="0" y="0"/>
                  </a:moveTo>
                  <a:lnTo>
                    <a:pt x="337600" y="0"/>
                  </a:lnTo>
                  <a:lnTo>
                    <a:pt x="337600" y="422010"/>
                  </a:lnTo>
                  <a:lnTo>
                    <a:pt x="0" y="4220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82" t="0" r="-11038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37604" cy="422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FFFFFF"/>
                  </a:solidFill>
                  <a:latin typeface="Fraunces"/>
                  <a:ea typeface="Fraunces"/>
                  <a:cs typeface="Fraunces"/>
                  <a:sym typeface="Fraunces"/>
                </a:rPr>
                <a:t>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480080" y="3619214"/>
            <a:ext cx="2911555" cy="36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Relacionamento N:M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80080" y="4008739"/>
            <a:ext cx="7589129" cy="108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9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Domínio da mecânica de relacionamentos muitos-para-muitos, observada na associação entre treinos e exercícios, e sua resolução via entidade associativa.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93134" y="5431260"/>
            <a:ext cx="8068123" cy="2457736"/>
          </a:xfrm>
          <a:custGeom>
            <a:avLst/>
            <a:gdLst/>
            <a:ahLst/>
            <a:cxnLst/>
            <a:rect r="r" b="b" t="t" l="l"/>
            <a:pathLst>
              <a:path h="2457736" w="8068123">
                <a:moveTo>
                  <a:pt x="0" y="0"/>
                </a:moveTo>
                <a:lnTo>
                  <a:pt x="8068122" y="0"/>
                </a:lnTo>
                <a:lnTo>
                  <a:pt x="8068122" y="2457736"/>
                </a:lnTo>
                <a:lnTo>
                  <a:pt x="0" y="245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25" r="0" b="-325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4900593" y="5589441"/>
            <a:ext cx="253203" cy="316506"/>
            <a:chOff x="0" y="0"/>
            <a:chExt cx="337604" cy="4220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7600" cy="422010"/>
            </a:xfrm>
            <a:custGeom>
              <a:avLst/>
              <a:gdLst/>
              <a:ahLst/>
              <a:cxnLst/>
              <a:rect r="r" b="b" t="t" l="l"/>
              <a:pathLst>
                <a:path h="422010" w="337600">
                  <a:moveTo>
                    <a:pt x="0" y="0"/>
                  </a:moveTo>
                  <a:lnTo>
                    <a:pt x="337600" y="0"/>
                  </a:lnTo>
                  <a:lnTo>
                    <a:pt x="337600" y="422010"/>
                  </a:lnTo>
                  <a:lnTo>
                    <a:pt x="0" y="4220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82" t="0" r="-11038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37604" cy="422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FFFFFF"/>
                  </a:solidFill>
                  <a:latin typeface="Fraunces"/>
                  <a:ea typeface="Fraunces"/>
                  <a:cs typeface="Fraunces"/>
                  <a:sym typeface="Fraunces"/>
                </a:rPr>
                <a:t>3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32630" y="6256277"/>
            <a:ext cx="2986445" cy="36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Consultas Complexas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2630" y="6645802"/>
            <a:ext cx="7589129" cy="722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9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Estruturação de consultas SQL com múltiplos INNER JOINs para extrair relatórios gerenciais precisos e legíveis.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9240584" y="5431260"/>
            <a:ext cx="8068123" cy="2457736"/>
          </a:xfrm>
          <a:custGeom>
            <a:avLst/>
            <a:gdLst/>
            <a:ahLst/>
            <a:cxnLst/>
            <a:rect r="r" b="b" t="t" l="l"/>
            <a:pathLst>
              <a:path h="2457736" w="8068123">
                <a:moveTo>
                  <a:pt x="0" y="0"/>
                </a:moveTo>
                <a:lnTo>
                  <a:pt x="8068122" y="0"/>
                </a:lnTo>
                <a:lnTo>
                  <a:pt x="8068122" y="2457736"/>
                </a:lnTo>
                <a:lnTo>
                  <a:pt x="0" y="245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25" r="0" b="-325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3148043" y="5589441"/>
            <a:ext cx="253203" cy="316506"/>
            <a:chOff x="0" y="0"/>
            <a:chExt cx="337604" cy="4220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7600" cy="422010"/>
            </a:xfrm>
            <a:custGeom>
              <a:avLst/>
              <a:gdLst/>
              <a:ahLst/>
              <a:cxnLst/>
              <a:rect r="r" b="b" t="t" l="l"/>
              <a:pathLst>
                <a:path h="422010" w="337600">
                  <a:moveTo>
                    <a:pt x="0" y="0"/>
                  </a:moveTo>
                  <a:lnTo>
                    <a:pt x="337600" y="0"/>
                  </a:lnTo>
                  <a:lnTo>
                    <a:pt x="337600" y="422010"/>
                  </a:lnTo>
                  <a:lnTo>
                    <a:pt x="0" y="4220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82" t="0" r="-11038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37604" cy="422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FFFFFF"/>
                  </a:solidFill>
                  <a:latin typeface="Fraunces"/>
                  <a:ea typeface="Fraunces"/>
                  <a:cs typeface="Fraunces"/>
                  <a:sym typeface="Fraunces"/>
                </a:rPr>
                <a:t>4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480080" y="6256277"/>
            <a:ext cx="2460784" cy="36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Desafio Superado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80080" y="6645802"/>
            <a:ext cx="7589129" cy="108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9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Gestão da integridade referencial durante os testes: erros de chaves duplicadas e conflitos de dependência exigiram atenção à </a:t>
            </a:r>
            <a:r>
              <a:rPr lang="en-US" sz="1951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ordem lógica de inserção e exclusão</a:t>
            </a:r>
            <a:r>
              <a:rPr lang="en-US" sz="195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entre tabelas.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93134" y="8090668"/>
            <a:ext cx="16315563" cy="1052741"/>
            <a:chOff x="0" y="0"/>
            <a:chExt cx="21754084" cy="14036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754085" cy="1403604"/>
            </a:xfrm>
            <a:custGeom>
              <a:avLst/>
              <a:gdLst/>
              <a:ahLst/>
              <a:cxnLst/>
              <a:rect r="r" b="b" t="t" l="l"/>
              <a:pathLst>
                <a:path h="1403604" w="21754085">
                  <a:moveTo>
                    <a:pt x="0" y="253238"/>
                  </a:moveTo>
                  <a:cubicBezTo>
                    <a:pt x="0" y="113411"/>
                    <a:pt x="113411" y="0"/>
                    <a:pt x="253238" y="0"/>
                  </a:cubicBezTo>
                  <a:lnTo>
                    <a:pt x="21500846" y="0"/>
                  </a:lnTo>
                  <a:cubicBezTo>
                    <a:pt x="21640673" y="0"/>
                    <a:pt x="21754085" y="113411"/>
                    <a:pt x="21754085" y="253238"/>
                  </a:cubicBezTo>
                  <a:lnTo>
                    <a:pt x="21754085" y="1150366"/>
                  </a:lnTo>
                  <a:cubicBezTo>
                    <a:pt x="21754085" y="1290193"/>
                    <a:pt x="21640673" y="1403604"/>
                    <a:pt x="21500846" y="1403604"/>
                  </a:cubicBezTo>
                  <a:lnTo>
                    <a:pt x="253238" y="1403604"/>
                  </a:lnTo>
                  <a:cubicBezTo>
                    <a:pt x="113411" y="1403604"/>
                    <a:pt x="0" y="1290320"/>
                    <a:pt x="0" y="1150366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04036" y="8379466"/>
            <a:ext cx="263776" cy="210903"/>
            <a:chOff x="0" y="0"/>
            <a:chExt cx="351701" cy="281203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351663" cy="281178"/>
            </a:xfrm>
            <a:custGeom>
              <a:avLst/>
              <a:gdLst/>
              <a:ahLst/>
              <a:cxnLst/>
              <a:rect r="r" b="b" t="t" l="l"/>
              <a:pathLst>
                <a:path h="281178" w="351663">
                  <a:moveTo>
                    <a:pt x="0" y="0"/>
                  </a:moveTo>
                  <a:lnTo>
                    <a:pt x="351663" y="0"/>
                  </a:lnTo>
                  <a:lnTo>
                    <a:pt x="351663" y="281178"/>
                  </a:lnTo>
                  <a:lnTo>
                    <a:pt x="0" y="281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68" r="-10" b="-1377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678715" y="8238020"/>
            <a:ext cx="15419089" cy="722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9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Resultado final: banco de dados relacional capaz de gerar relatórios precisos como listagem de planos por aluno, composição de fichas de exercícios e balanço de carga de trabalho por instrutor.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DAHM4ItqnRI</dc:identifier>
  <dcterms:modified xsi:type="dcterms:W3CDTF">2011-08-01T06:04:30Z</dcterms:modified>
  <cp:revision>1</cp:revision>
  <dc:title>Sistema-de-Gerenciamento-de-Academia.pptx</dc:title>
</cp:coreProperties>
</file>